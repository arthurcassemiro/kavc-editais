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0000" cy="388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72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  <a:latin typeface="Arial"/>
              </a:defRPr>
            </a:pPr>
            <a:r>
              <a:t>Figura 3. Aplicação do PCM: da cota populacional às unidades inteiras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630000"/>
            <a:ext cx="5760000" cy="37274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20" b="0">
                <a:solidFill>
                  <a:srgbClr val="3A3A3A"/>
                </a:solidFill>
                <a:latin typeface="Arial"/>
              </a:defRPr>
            </a:pPr>
            <a:r>
              <a:t>Parâmetros: 257 unidades a distribuir, oito portes, população-alvo por porte, PCM por município, tetos e cotas por faixa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110744"/>
            <a:ext cx="2772000" cy="4775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1. Cota do porte</a:t>
            </a:r>
          </a:p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proporcional à população-alvo, corrigida pelo PCM médio (eq. 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68000" y="1110744"/>
            <a:ext cx="2772000" cy="4775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2. Cota do município</a:t>
            </a:r>
          </a:p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parcela do município na população-alvo do porte (eq. 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1714328"/>
            <a:ext cx="5760000" cy="258371"/>
          </a:xfrm>
          <a:prstGeom prst="roundRect">
            <a:avLst>
              <a:gd name="adj" fmla="val 8000"/>
            </a:avLst>
          </a:prstGeom>
          <a:solidFill>
            <a:srgbClr val="54278F"/>
          </a:solidFill>
          <a:ln w="9525">
            <a:solidFill>
              <a:srgbClr val="542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20" b="1">
                <a:solidFill>
                  <a:srgbClr val="FFFFFF"/>
                </a:solidFill>
                <a:latin typeface="Arial"/>
              </a:defRPr>
            </a:pPr>
            <a:r>
              <a:t>3. Ajuste pelo indicador: K = cota × (1 + PCM) − unidades da etapa prévia (eq. 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2080700"/>
            <a:ext cx="2772000" cy="3663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4. Parte inteira de K (eq. 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8000" y="2080700"/>
            <a:ext cx="2772000" cy="3663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5. Maior resto: unidades restantes às maiores frações (eq. 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2573091"/>
            <a:ext cx="2772000" cy="36639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6a. Portes grandes: teto por município (10, 8, 7, 4 e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8000" y="2573091"/>
            <a:ext cx="2772000" cy="36639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6b. Portes pequenos: uma unidade aos municípios de maior PCM (27, 100 e 30)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3065480"/>
            <a:ext cx="5760000" cy="372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20" b="1">
                <a:solidFill>
                  <a:srgbClr val="3A3A3A"/>
                </a:solidFill>
                <a:latin typeface="Arial"/>
              </a:defRPr>
            </a:pPr>
            <a:r>
              <a:t>Resultado: 43 + 100 + 157 = 300 unidades; a lista publicada (303 em 261 municípios) reduziu os tetos dos portes grandes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0000" y="1002744"/>
            <a:ext cx="0" cy="10800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51999" y="1349536"/>
            <a:ext cx="216001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54000" y="1588329"/>
            <a:ext cx="0" cy="125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60000" y="1972701"/>
            <a:ext cx="0" cy="107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51999" y="2263895"/>
            <a:ext cx="216001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54000" y="2447090"/>
            <a:ext cx="0" cy="126001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65999" y="2939481"/>
            <a:ext cx="0" cy="125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54000" y="2939481"/>
            <a:ext cx="0" cy="125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