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6120000" cy="3887999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80000" y="72000"/>
            <a:ext cx="5760000" cy="288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>
                <a:solidFill>
                  <a:srgbClr val="3A3A3A"/>
                </a:solidFill>
                <a:latin typeface="Arial"/>
              </a:defRPr>
            </a:pPr>
            <a:r>
              <a:t>Figura 3. Aplicação do PCM: da cota populacional às unidades inteiras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180000" y="630000"/>
            <a:ext cx="5760000" cy="372744"/>
          </a:xfrm>
          <a:prstGeom prst="roundRect">
            <a:avLst>
              <a:gd name="adj" fmla="val 8000"/>
            </a:avLst>
          </a:prstGeom>
          <a:solidFill>
            <a:srgbClr val="F2F2F2"/>
          </a:solidFill>
          <a:ln w="9525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36000" bIns="36000"/>
          <a:lstStyle/>
          <a:p>
            <a:pPr algn="ctr">
              <a:defRPr sz="720" b="0">
                <a:solidFill>
                  <a:srgbClr val="3A3A3A"/>
                </a:solidFill>
                <a:latin typeface="Arial"/>
              </a:defRPr>
            </a:pPr>
            <a:r>
              <a:t>Parâmetros: 257 unidades a distribuir, oito portes, população-alvo por porte, PCM por município, tetos e cotas por faixa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180000" y="1110744"/>
            <a:ext cx="2772000" cy="477585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59595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36000" bIns="36000"/>
          <a:lstStyle/>
          <a:p>
            <a:pPr algn="ctr">
              <a:defRPr sz="700" b="0">
                <a:solidFill>
                  <a:srgbClr val="3A3A3A"/>
                </a:solidFill>
                <a:latin typeface="Arial"/>
              </a:defRPr>
            </a:pPr>
            <a:r>
              <a:t>1. Cota do porte</a:t>
            </a:r>
          </a:p>
          <a:p>
            <a:pPr algn="ctr">
              <a:defRPr sz="700" b="0">
                <a:solidFill>
                  <a:srgbClr val="3A3A3A"/>
                </a:solidFill>
                <a:latin typeface="Arial"/>
              </a:defRPr>
            </a:pPr>
            <a:r>
              <a:t>proporcional à população-alvo, corrigida pelo PCM médio (eq. 6)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3168000" y="1110744"/>
            <a:ext cx="2772000" cy="477585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59595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36000" bIns="36000"/>
          <a:lstStyle/>
          <a:p>
            <a:pPr algn="ctr">
              <a:defRPr sz="700" b="0">
                <a:solidFill>
                  <a:srgbClr val="3A3A3A"/>
                </a:solidFill>
                <a:latin typeface="Arial"/>
              </a:defRPr>
            </a:pPr>
            <a:r>
              <a:t>2. Cota do município</a:t>
            </a:r>
          </a:p>
          <a:p>
            <a:pPr algn="ctr">
              <a:defRPr sz="700" b="0">
                <a:solidFill>
                  <a:srgbClr val="3A3A3A"/>
                </a:solidFill>
                <a:latin typeface="Arial"/>
              </a:defRPr>
            </a:pPr>
            <a:r>
              <a:t>parcela do município na população-alvo do porte (eq. 7)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180000" y="1714328"/>
            <a:ext cx="5760000" cy="258371"/>
          </a:xfrm>
          <a:prstGeom prst="roundRect">
            <a:avLst>
              <a:gd name="adj" fmla="val 8000"/>
            </a:avLst>
          </a:prstGeom>
          <a:solidFill>
            <a:srgbClr val="54278F"/>
          </a:solidFill>
          <a:ln w="9525">
            <a:solidFill>
              <a:srgbClr val="5427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36000" bIns="36000"/>
          <a:lstStyle/>
          <a:p>
            <a:pPr algn="ctr">
              <a:defRPr sz="720" b="1">
                <a:solidFill>
                  <a:srgbClr val="FFFFFF"/>
                </a:solidFill>
                <a:latin typeface="Arial"/>
              </a:defRPr>
            </a:pPr>
            <a:r>
              <a:t>3. Ajuste pelo indicador: K = cota × (1 + PCM) − unidades da etapa prévia (eq. 8)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180000" y="2080700"/>
            <a:ext cx="2772000" cy="36639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59595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36000" bIns="36000"/>
          <a:lstStyle/>
          <a:p>
            <a:pPr algn="ctr">
              <a:defRPr sz="700" b="0">
                <a:solidFill>
                  <a:srgbClr val="3A3A3A"/>
                </a:solidFill>
                <a:latin typeface="Arial"/>
              </a:defRPr>
            </a:pPr>
            <a:r>
              <a:t>4. Parte inteira de K (eq. 9)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3168000" y="2080700"/>
            <a:ext cx="2772000" cy="36639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59595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36000" bIns="36000"/>
          <a:lstStyle/>
          <a:p>
            <a:pPr algn="ctr">
              <a:defRPr sz="700" b="0">
                <a:solidFill>
                  <a:srgbClr val="3A3A3A"/>
                </a:solidFill>
                <a:latin typeface="Arial"/>
              </a:defRPr>
            </a:pPr>
            <a:r>
              <a:t>5. Maior resto: unidades restantes às maiores frações (eq. 10)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180000" y="2573091"/>
            <a:ext cx="2772000" cy="366390"/>
          </a:xfrm>
          <a:prstGeom prst="roundRect">
            <a:avLst>
              <a:gd name="adj" fmla="val 8000"/>
            </a:avLst>
          </a:prstGeom>
          <a:solidFill>
            <a:srgbClr val="1F1F1F"/>
          </a:solidFill>
          <a:ln w="9525">
            <a:solidFill>
              <a:srgbClr val="1F1F1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36000" bIns="36000"/>
          <a:lstStyle/>
          <a:p>
            <a:pPr algn="ctr">
              <a:defRPr sz="700" b="0">
                <a:solidFill>
                  <a:srgbClr val="FFFFFF"/>
                </a:solidFill>
                <a:latin typeface="Arial"/>
              </a:defRPr>
            </a:pPr>
            <a:r>
              <a:t>6a. Portes grandes: teto por município (10, 8, 7, 4 e 2)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168000" y="2573091"/>
            <a:ext cx="2772000" cy="366390"/>
          </a:xfrm>
          <a:prstGeom prst="roundRect">
            <a:avLst>
              <a:gd name="adj" fmla="val 8000"/>
            </a:avLst>
          </a:prstGeom>
          <a:solidFill>
            <a:srgbClr val="1F1F1F"/>
          </a:solidFill>
          <a:ln w="9525">
            <a:solidFill>
              <a:srgbClr val="1F1F1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36000" bIns="36000"/>
          <a:lstStyle/>
          <a:p>
            <a:pPr algn="ctr">
              <a:defRPr sz="700" b="0">
                <a:solidFill>
                  <a:srgbClr val="FFFFFF"/>
                </a:solidFill>
                <a:latin typeface="Arial"/>
              </a:defRPr>
            </a:pPr>
            <a:r>
              <a:t>6b. Portes pequenos: uma unidade aos municípios de maior PCM (27, 100 e 30)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80000" y="3065480"/>
            <a:ext cx="5760000" cy="372744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3A3A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36000" bIns="36000"/>
          <a:lstStyle/>
          <a:p>
            <a:pPr algn="ctr">
              <a:defRPr sz="720" b="1">
                <a:solidFill>
                  <a:srgbClr val="3A3A3A"/>
                </a:solidFill>
                <a:latin typeface="Arial"/>
              </a:defRPr>
            </a:pPr>
            <a:r>
              <a:t>Resultado: 43 + 100 + 157 = 300 unidades; a lista publicada (303 em 261 municípios) reduziu os tetos dos portes grandes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3060000" y="1002744"/>
            <a:ext cx="0" cy="108000"/>
          </a:xfrm>
          <a:prstGeom prst="line">
            <a:avLst/>
          </a:prstGeom>
          <a:ln w="9525">
            <a:solidFill>
              <a:srgbClr val="3A3A3A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>
            <a:off x="2951999" y="1349536"/>
            <a:ext cx="216001" cy="0"/>
          </a:xfrm>
          <a:prstGeom prst="line">
            <a:avLst/>
          </a:prstGeom>
          <a:ln w="9525">
            <a:solidFill>
              <a:srgbClr val="3A3A3A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>
            <a:off x="4554000" y="1588329"/>
            <a:ext cx="0" cy="125999"/>
          </a:xfrm>
          <a:prstGeom prst="line">
            <a:avLst/>
          </a:prstGeom>
          <a:ln w="9525">
            <a:solidFill>
              <a:srgbClr val="3A3A3A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" name="Connector 14"/>
          <p:cNvCxnSpPr/>
          <p:nvPr/>
        </p:nvCxnSpPr>
        <p:spPr>
          <a:xfrm>
            <a:off x="3060000" y="1972701"/>
            <a:ext cx="0" cy="107999"/>
          </a:xfrm>
          <a:prstGeom prst="line">
            <a:avLst/>
          </a:prstGeom>
          <a:ln w="9525">
            <a:solidFill>
              <a:srgbClr val="3A3A3A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Connector 15"/>
          <p:cNvCxnSpPr/>
          <p:nvPr/>
        </p:nvCxnSpPr>
        <p:spPr>
          <a:xfrm>
            <a:off x="2951999" y="2263895"/>
            <a:ext cx="216001" cy="0"/>
          </a:xfrm>
          <a:prstGeom prst="line">
            <a:avLst/>
          </a:prstGeom>
          <a:ln w="9525">
            <a:solidFill>
              <a:srgbClr val="3A3A3A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Connector 16"/>
          <p:cNvCxnSpPr/>
          <p:nvPr/>
        </p:nvCxnSpPr>
        <p:spPr>
          <a:xfrm>
            <a:off x="4554000" y="2447090"/>
            <a:ext cx="0" cy="126001"/>
          </a:xfrm>
          <a:prstGeom prst="line">
            <a:avLst/>
          </a:prstGeom>
          <a:ln w="9525">
            <a:solidFill>
              <a:srgbClr val="3A3A3A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Connector 17"/>
          <p:cNvCxnSpPr/>
          <p:nvPr/>
        </p:nvCxnSpPr>
        <p:spPr>
          <a:xfrm>
            <a:off x="1565999" y="2939481"/>
            <a:ext cx="0" cy="125999"/>
          </a:xfrm>
          <a:prstGeom prst="line">
            <a:avLst/>
          </a:prstGeom>
          <a:ln w="9525">
            <a:solidFill>
              <a:srgbClr val="3A3A3A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Connector 18"/>
          <p:cNvCxnSpPr/>
          <p:nvPr/>
        </p:nvCxnSpPr>
        <p:spPr>
          <a:xfrm>
            <a:off x="4554000" y="2939481"/>
            <a:ext cx="0" cy="125999"/>
          </a:xfrm>
          <a:prstGeom prst="line">
            <a:avLst/>
          </a:prstGeom>
          <a:ln w="9525">
            <a:solidFill>
              <a:srgbClr val="3A3A3A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