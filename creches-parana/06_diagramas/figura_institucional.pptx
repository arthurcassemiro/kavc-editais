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0000" cy="453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72000"/>
            <a:ext cx="57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  <a:latin typeface="Arial"/>
              </a:defRPr>
            </a:pPr>
            <a:r>
              <a:t>Figura 1. Arranjo institucional e financeiro do Programa Infância Feliz Paraná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827999"/>
            <a:ext cx="1764000" cy="699975"/>
          </a:xfrm>
          <a:prstGeom prst="roundRect">
            <a:avLst>
              <a:gd name="adj" fmla="val 8000"/>
            </a:avLst>
          </a:prstGeom>
          <a:solidFill>
            <a:srgbClr val="59595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Casa Civil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Estudo técnico: PCM, portes e regra de alocação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78000" y="827999"/>
            <a:ext cx="1764000" cy="699975"/>
          </a:xfrm>
          <a:prstGeom prst="roundRect">
            <a:avLst>
              <a:gd name="adj" fmla="val 8000"/>
            </a:avLst>
          </a:prstGeom>
          <a:solidFill>
            <a:srgbClr val="307E3E"/>
          </a:solidFill>
          <a:ln w="9525">
            <a:solidFill>
              <a:srgbClr val="307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CEDCA/PR (conselho paritário)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Aporte do FIA e aprovação do estudo (Deliberações 60/2023 e 25/2024)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6000" y="827999"/>
            <a:ext cx="1764000" cy="699975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Fontes: Tesouro do Estado, FIA/PR e Assembleia Legislativa (R$ 100 milhões em 2024)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1689974"/>
            <a:ext cx="1764000" cy="5887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Ipardes</a:t>
            </a:r>
          </a:p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Estudo prévio (43 unidades) e bases de dados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8000" y="1689974"/>
            <a:ext cx="1764000" cy="588780"/>
          </a:xfrm>
          <a:prstGeom prst="roundRect">
            <a:avLst>
              <a:gd name="adj" fmla="val 8000"/>
            </a:avLst>
          </a:prstGeom>
          <a:solidFill>
            <a:srgbClr val="0171C1"/>
          </a:solidFill>
          <a:ln w="9525">
            <a:solidFill>
              <a:srgbClr val="0171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SEDEF (gestora do FIA/PR)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Resoluções 212 e 219/2024: critério, lista, habilitação e repasse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76000" y="1689974"/>
            <a:ext cx="1764000" cy="588780"/>
          </a:xfrm>
          <a:prstGeom prst="roundRect">
            <a:avLst>
              <a:gd name="adj" fmla="val 8000"/>
            </a:avLst>
          </a:prstGeom>
          <a:solidFill>
            <a:srgbClr val="C24C12"/>
          </a:solidFill>
          <a:ln w="9525">
            <a:solidFill>
              <a:srgbClr val="C24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Paranacidade / SECID</a:t>
            </a:r>
          </a:p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Projeto padrão, análise, autorização para licitar e vistorias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" y="2440755"/>
            <a:ext cx="5760000" cy="366390"/>
          </a:xfrm>
          <a:prstGeom prst="roundRect">
            <a:avLst>
              <a:gd name="adj" fmla="val 8000"/>
            </a:avLst>
          </a:prstGeom>
          <a:solidFill>
            <a:srgbClr val="D9D9D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Incentivo financeiro fundo a fundo (FIA/PR para os fundos municipais), por Termo de Adesão, em cinco parcelas condicionadas à execução; sem convênio e sem operação de crédito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000" y="2933145"/>
            <a:ext cx="5760000" cy="3663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Municípios (399): adesão, terreno, projeto de implantação, licitação, obra e prestação de contas; custo excedente e custeio posterior por conta do município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" y="3425535"/>
            <a:ext cx="2736000" cy="2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Controle: TCE-PR, MP-PR, CEDCA e conselhos municipais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4000" y="3425535"/>
            <a:ext cx="2736000" cy="28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defRPr sz="700" b="0">
                <a:solidFill>
                  <a:srgbClr val="3A3A3A"/>
                </a:solidFill>
                <a:latin typeface="Arial"/>
              </a:defRPr>
            </a:pPr>
            <a:r>
              <a:t>Resultado: 303 unidades em 261 municípios (2024); segunda etapa em 2025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44000" y="1177987"/>
            <a:ext cx="234000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60000" y="1527975"/>
            <a:ext cx="0" cy="161999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942000" y="1177987"/>
            <a:ext cx="234000" cy="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062000" y="1527975"/>
            <a:ext cx="0" cy="161999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58000" y="1527975"/>
            <a:ext cx="0" cy="161999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60000" y="2278755"/>
            <a:ext cx="0" cy="16200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58000" y="2278755"/>
            <a:ext cx="0" cy="16200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60000" y="2807145"/>
            <a:ext cx="0" cy="126000"/>
          </a:xfrm>
          <a:prstGeom prst="line">
            <a:avLst/>
          </a:prstGeom>
          <a:ln w="9525">
            <a:solidFill>
              <a:srgbClr val="3A3A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52400" y="629999"/>
            <a:ext cx="6191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3A3A3A"/>
                </a:solidFill>
                <a:latin typeface="Arial"/>
              </a:defRPr>
            </a:pPr>
            <a:r>
              <a:t>Critério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900" y="629999"/>
            <a:ext cx="15102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3A3A3A"/>
                </a:solidFill>
                <a:latin typeface="Arial"/>
              </a:defRPr>
            </a:pPr>
            <a:r>
              <a:t>Deliberação e regulação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3200" y="629999"/>
            <a:ext cx="1569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 b="1">
                <a:solidFill>
                  <a:srgbClr val="3A3A3A"/>
                </a:solidFill>
                <a:latin typeface="Arial"/>
              </a:defRPr>
            </a:pPr>
            <a:r>
              <a:t>Financiamento e execução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