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35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72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  <a:latin typeface="Arial"/>
              </a:defRPr>
            </a:pPr>
            <a:r>
              <a:t>Figura 5. Perguntas da aplicação: do PCM às unidades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774000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969696"/>
          </a:solidFill>
          <a:ln w="952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1. Escala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Como comparar a capital com um município de 3 mil habitantes?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56000" y="774000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69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Oito portes populacionais; cota de cada porte proporcional à população-alvo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312785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54278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2. Conversão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Como transformar um índice contínuo em unidades inteiras?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6000" y="1312785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42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Cota do município × (1 + PCM); parte inteira; maior resto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1851570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3. Concentração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Como evitar que poucos municípios recebam quase tudo?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6000" y="1851570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Tetos por município nos portes grandes; uma unidade aos municípios de maior PCM nos pequenos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2390355"/>
            <a:ext cx="2160000" cy="448784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4. Validação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Quem aprova o critério e como ele vira lista?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6000" y="2390355"/>
            <a:ext cx="3384000" cy="448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Deliberação do CEDCA; Resolução SEDEF com critério e lista; o próximo ranqueado substitui quem não adere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2929140"/>
            <a:ext cx="2160000" cy="342000"/>
          </a:xfrm>
          <a:prstGeom prst="roundRect">
            <a:avLst>
              <a:gd name="adj" fmla="val 8000"/>
            </a:avLst>
          </a:prstGeom>
          <a:solidFill>
            <a:srgbClr val="B2182B"/>
          </a:solidFill>
          <a:ln w="9525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5. Limites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O que o índice não capta?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6000" y="2929140"/>
            <a:ext cx="3384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Terreno, capacidade de licitar e fila local; margem de decisão delimitada e documentada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000" y="998392"/>
            <a:ext cx="216000" cy="0"/>
          </a:xfrm>
          <a:prstGeom prst="line">
            <a:avLst/>
          </a:prstGeom>
          <a:ln w="9525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60000" y="1222785"/>
            <a:ext cx="0" cy="90000"/>
          </a:xfrm>
          <a:prstGeom prst="line">
            <a:avLst/>
          </a:prstGeom>
          <a:ln w="9525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40000" y="1537177"/>
            <a:ext cx="216000" cy="0"/>
          </a:xfrm>
          <a:prstGeom prst="line">
            <a:avLst/>
          </a:prstGeom>
          <a:ln w="9525">
            <a:solidFill>
              <a:srgbClr val="5427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60000" y="1761570"/>
            <a:ext cx="0" cy="90000"/>
          </a:xfrm>
          <a:prstGeom prst="line">
            <a:avLst/>
          </a:prstGeom>
          <a:ln w="9525">
            <a:solidFill>
              <a:srgbClr val="5427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40000" y="2075962"/>
            <a:ext cx="216000" cy="0"/>
          </a:xfrm>
          <a:prstGeom prst="line">
            <a:avLst/>
          </a:prstGeom>
          <a:ln w="95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60000" y="2300355"/>
            <a:ext cx="0" cy="90000"/>
          </a:xfrm>
          <a:prstGeom prst="line">
            <a:avLst/>
          </a:prstGeom>
          <a:ln w="95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40000" y="2614747"/>
            <a:ext cx="216000" cy="0"/>
          </a:xfrm>
          <a:prstGeom prst="line">
            <a:avLst/>
          </a:prstGeom>
          <a:ln w="9525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60000" y="2839140"/>
            <a:ext cx="0" cy="90000"/>
          </a:xfrm>
          <a:prstGeom prst="line">
            <a:avLst/>
          </a:prstGeom>
          <a:ln w="9525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40000" y="3100140"/>
            <a:ext cx="216000" cy="0"/>
          </a:xfrm>
          <a:prstGeom prst="line">
            <a:avLst/>
          </a:prstGeom>
          <a:ln w="9525">
            <a:solidFill>
              <a:srgbClr val="B218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0400" y="576000"/>
            <a:ext cx="6191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Pergunta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100" y="576000"/>
            <a:ext cx="5598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Decisão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