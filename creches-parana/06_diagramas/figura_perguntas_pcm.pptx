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0000" cy="35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72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  <a:latin typeface="Arial"/>
              </a:defRPr>
            </a:pPr>
            <a:r>
              <a:t>Figura 4. Perguntas que estruturaram a construção do PCM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774000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C24C12"/>
          </a:solidFill>
          <a:ln w="9525">
            <a:solidFill>
              <a:srgbClr val="C24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1. Necessidade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O que significa um município precisar de creche?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56000" y="774000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Três pilares: oferta educacional, pressão demográfica e vulnerabilidade socioeconômica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312785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0171C1"/>
          </a:solidFill>
          <a:ln w="9525">
            <a:solidFill>
              <a:srgbClr val="017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2. Dados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Há dado oficial e recente para os 399 municípios?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6000" y="1312785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17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Nove indicadores de bases públicas (Censo Escolar, Censo 2022, SIM/Sinasc, Sisvan, CadÚnico, IPDM), unidos pelo código do IBGE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1851570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0171C1"/>
          </a:solidFill>
          <a:ln w="9525">
            <a:solidFill>
              <a:srgbClr val="017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3. Comparabilidade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Como pôr indicadores de unidades distintas na mesma escala?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6000" y="1851570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17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Normalização mínimo-máximo de 0 a 100; cobertura, oferta privada e renda em sentido inverso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2390355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307E3E"/>
          </a:solidFill>
          <a:ln w="9525">
            <a:solidFill>
              <a:srgbClr val="307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4. Ponderação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Quanto pesa cada indicador e cada pilar?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6000" y="2390355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07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Cobertura de creche com peso 2 no pilar educacional; PCM = (2·FE + FD + 2·FS)/5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2929140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54278F"/>
          </a:solidFill>
          <a:ln w="9525">
            <a:solidFill>
              <a:srgbClr val="542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5. Verificação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O ordenamento é defensável?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6000" y="2929140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42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Correlação entre pilares, distribuição por porte e no mapa, comparação com o INC, sensibilidade a pesos e normalização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0000" y="998392"/>
            <a:ext cx="216000" cy="0"/>
          </a:xfrm>
          <a:prstGeom prst="line">
            <a:avLst/>
          </a:prstGeom>
          <a:ln w="9525">
            <a:solidFill>
              <a:srgbClr val="C24C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60000" y="1222785"/>
            <a:ext cx="0" cy="90000"/>
          </a:xfrm>
          <a:prstGeom prst="line">
            <a:avLst/>
          </a:prstGeom>
          <a:ln w="9525">
            <a:solidFill>
              <a:srgbClr val="C24C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40000" y="1537177"/>
            <a:ext cx="216000" cy="0"/>
          </a:xfrm>
          <a:prstGeom prst="line">
            <a:avLst/>
          </a:prstGeom>
          <a:ln w="9525">
            <a:solidFill>
              <a:srgbClr val="0171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60000" y="1761570"/>
            <a:ext cx="0" cy="90000"/>
          </a:xfrm>
          <a:prstGeom prst="line">
            <a:avLst/>
          </a:prstGeom>
          <a:ln w="9525">
            <a:solidFill>
              <a:srgbClr val="0171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40000" y="2075962"/>
            <a:ext cx="216000" cy="0"/>
          </a:xfrm>
          <a:prstGeom prst="line">
            <a:avLst/>
          </a:prstGeom>
          <a:ln w="9525">
            <a:solidFill>
              <a:srgbClr val="0171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60000" y="2300355"/>
            <a:ext cx="0" cy="90000"/>
          </a:xfrm>
          <a:prstGeom prst="line">
            <a:avLst/>
          </a:prstGeom>
          <a:ln w="9525">
            <a:solidFill>
              <a:srgbClr val="0171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40000" y="2614747"/>
            <a:ext cx="216000" cy="0"/>
          </a:xfrm>
          <a:prstGeom prst="line">
            <a:avLst/>
          </a:prstGeom>
          <a:ln w="9525">
            <a:solidFill>
              <a:srgbClr val="307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60000" y="2839140"/>
            <a:ext cx="0" cy="90000"/>
          </a:xfrm>
          <a:prstGeom prst="line">
            <a:avLst/>
          </a:prstGeom>
          <a:ln w="9525">
            <a:solidFill>
              <a:srgbClr val="307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40000" y="3153532"/>
            <a:ext cx="216000" cy="0"/>
          </a:xfrm>
          <a:prstGeom prst="line">
            <a:avLst/>
          </a:prstGeom>
          <a:ln w="9525">
            <a:solidFill>
              <a:srgbClr val="5427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0400" y="576000"/>
            <a:ext cx="6191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Pergunta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100" y="576000"/>
            <a:ext cx="5598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Decisão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